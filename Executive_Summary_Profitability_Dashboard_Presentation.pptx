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80F1C-3623-427C-9B55-400EB3487B1C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C049A4-8426-4B40-85C9-27A7638B5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50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C049A4-8426-4B40-85C9-27A7638B51D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475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64008"/>
            <a:ext cx="12191695" cy="6858000"/>
          </a:xfrm>
          <a:prstGeom prst="rect">
            <a:avLst/>
          </a:prstGeom>
          <a:solidFill>
            <a:srgbClr val="E1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23805" y="474794"/>
            <a:ext cx="6365269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4C6C"/>
                </a:solidFill>
                <a:latin typeface="Aptos Display"/>
              </a:defRPr>
            </a:pPr>
            <a:r>
              <a:rPr sz="4400" dirty="0">
                <a:latin typeface="Cambria" panose="02040503050406030204" pitchFamily="18" charset="0"/>
                <a:ea typeface="Cambria" panose="02040503050406030204" pitchFamily="18" charset="0"/>
              </a:rPr>
              <a:t>Executive Summary and</a:t>
            </a:r>
            <a:br>
              <a:rPr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sz="4400" dirty="0">
                <a:latin typeface="Cambria" panose="02040503050406030204" pitchFamily="18" charset="0"/>
                <a:ea typeface="Cambria" panose="02040503050406030204" pitchFamily="18" charset="0"/>
              </a:rPr>
              <a:t>Profitability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8722" y="2314956"/>
            <a:ext cx="382373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2D34"/>
                </a:solidFill>
                <a:latin typeface="Aptos"/>
              </a:defRPr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</a:rPr>
              <a:t>Excel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7250" y="3447393"/>
            <a:ext cx="458420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4C6C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Presented by: Gayatri Bajirao Kamble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32901" y="4114800"/>
            <a:ext cx="45877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6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Tool: Microsoft Excel  |  Project Type: Business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-13258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66750"/>
            <a:ext cx="29826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4C6C"/>
                </a:solidFill>
                <a:latin typeface="Aptos Display"/>
              </a:defRPr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8791"/>
            <a:ext cx="50511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6"/>
                </a:solidFill>
                <a:latin typeface="Aptos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Turning business data into clear and actionable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96" y="1669568"/>
            <a:ext cx="6492240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Analyze revenue and profitability performance.</a:t>
            </a:r>
          </a:p>
          <a:p>
            <a:pPr>
              <a:spcAft>
                <a:spcPts val="1100"/>
              </a:spcAft>
              <a:defRPr sz="19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Track key business KPIs in one place.</a:t>
            </a:r>
          </a:p>
          <a:p>
            <a:pPr>
              <a:spcAft>
                <a:spcPts val="1100"/>
              </a:spcAft>
              <a:defRPr sz="19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Understand monthly revenue and gross-profit trends.</a:t>
            </a:r>
          </a:p>
          <a:p>
            <a:pPr>
              <a:spcAft>
                <a:spcPts val="1100"/>
              </a:spcAft>
              <a:defRPr sz="19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Compare countries, regions and sales channels.</a:t>
            </a:r>
          </a:p>
          <a:p>
            <a:pPr>
              <a:spcAft>
                <a:spcPts val="1100"/>
              </a:spcAft>
              <a:defRPr sz="19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Provide an interactive dashboard for quick decision-making</a:t>
            </a:r>
            <a:r>
              <a:rPr sz="20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417320"/>
            <a:ext cx="3474720" cy="4069080"/>
          </a:xfrm>
          <a:prstGeom prst="roundRect">
            <a:avLst/>
          </a:prstGeom>
          <a:solidFill>
            <a:srgbClr val="E1F2FA"/>
          </a:solidFill>
          <a:ln>
            <a:solidFill>
              <a:srgbClr val="48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783080"/>
            <a:ext cx="28346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RAW DATA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ANALYSIS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DASHBOARD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BUSINESS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7065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Dataset &amp;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53996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6"/>
                </a:solidFill>
                <a:latin typeface="Aptos"/>
              </a:defRPr>
            </a:pPr>
            <a:r>
              <a:rPr sz="1400" dirty="0">
                <a:latin typeface="Cambria" panose="02040503050406030204" pitchFamily="18" charset="0"/>
                <a:ea typeface="Cambria" panose="02040503050406030204" pitchFamily="18" charset="0"/>
              </a:rPr>
              <a:t>Key fields and preparation steps used before building the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212080" cy="4892040"/>
          </a:xfrm>
          <a:prstGeom prst="roundRect">
            <a:avLst/>
          </a:prstGeom>
          <a:solidFill>
            <a:srgbClr val="F8FBFD"/>
          </a:solidFill>
          <a:ln>
            <a:solidFill>
              <a:srgbClr val="D7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25346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4C6C"/>
                </a:solidFill>
              </a:defRPr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</a:rPr>
              <a:t>Main Data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480560" cy="354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Order / transaction information</a:t>
            </a:r>
          </a:p>
          <a:p>
            <a:pPr>
              <a:spcAft>
                <a:spcPts val="11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Product category</a:t>
            </a:r>
          </a:p>
          <a:p>
            <a:pPr>
              <a:spcAft>
                <a:spcPts val="11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Country and region</a:t>
            </a:r>
          </a:p>
          <a:p>
            <a:pPr>
              <a:spcAft>
                <a:spcPts val="11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Sales / revenue</a:t>
            </a:r>
          </a:p>
          <a:p>
            <a:pPr>
              <a:spcAft>
                <a:spcPts val="11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Gross profit</a:t>
            </a:r>
          </a:p>
          <a:p>
            <a:pPr>
              <a:spcAft>
                <a:spcPts val="11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Quantity / units sold</a:t>
            </a:r>
          </a:p>
          <a:p>
            <a:pPr>
              <a:spcAft>
                <a:spcPts val="11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Orders and COGS</a:t>
            </a:r>
          </a:p>
          <a:p>
            <a:pPr>
              <a:spcAft>
                <a:spcPts val="11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Sales channel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212080" cy="4892040"/>
          </a:xfrm>
          <a:prstGeom prst="roundRect">
            <a:avLst/>
          </a:prstGeom>
          <a:solidFill>
            <a:srgbClr val="F8FBFD"/>
          </a:solidFill>
          <a:ln>
            <a:solidFill>
              <a:srgbClr val="D7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18965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4C6C"/>
                </a:solidFill>
              </a:defRPr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</a:rPr>
              <a:t>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480560" cy="3118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Checked the structure and data types.</a:t>
            </a:r>
          </a:p>
          <a:p>
            <a:pPr>
              <a:spcAft>
                <a:spcPts val="11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Prepared fields required for analysis.</a:t>
            </a:r>
          </a:p>
          <a:p>
            <a:pPr>
              <a:spcAft>
                <a:spcPts val="11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Created summaries using Pivot Tables.</a:t>
            </a:r>
          </a:p>
          <a:p>
            <a:pPr>
              <a:spcAft>
                <a:spcPts val="11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Built Pivot Charts from the summaries.</a:t>
            </a:r>
          </a:p>
          <a:p>
            <a:pPr>
              <a:spcAft>
                <a:spcPts val="11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Connected slicers for interactive filtering.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1978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Excel Tools &amp; Techniques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2880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189103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4C6C"/>
                </a:solidFill>
              </a:defRPr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</a:rPr>
              <a:t>Pivot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187480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6"/>
                </a:solidFill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Summarize large datasets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17320"/>
            <a:ext cx="2880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43400" y="1645920"/>
            <a:ext cx="18926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4C6C"/>
                </a:solidFill>
              </a:defRPr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</a:rPr>
              <a:t>Pivot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194560"/>
            <a:ext cx="226510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6"/>
                </a:solidFill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Visualize business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417320"/>
            <a:ext cx="2880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1645920"/>
            <a:ext cx="112370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4C6C"/>
                </a:solidFill>
              </a:defRPr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</a:rPr>
              <a:t>Slicers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194560"/>
            <a:ext cx="1450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6"/>
                </a:solidFill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Interactive filtering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57600"/>
            <a:ext cx="2880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886200"/>
            <a:ext cx="15635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4C6C"/>
                </a:solidFill>
              </a:defRPr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</a:rPr>
              <a:t>KPI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34840"/>
            <a:ext cx="20999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6"/>
                </a:solidFill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Quick performance 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657600"/>
            <a:ext cx="2880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3886200"/>
            <a:ext cx="15161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4C6C"/>
                </a:solidFill>
              </a:defRPr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</a:rPr>
              <a:t>Formulas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434840"/>
            <a:ext cx="17956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6"/>
                </a:solidFill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Calculations and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657600"/>
            <a:ext cx="2880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80" y="3638605"/>
            <a:ext cx="2436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64C6C"/>
                </a:solidFill>
              </a:defRPr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</a:rPr>
              <a:t>Conditional Formatting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5403" y="4455294"/>
            <a:ext cx="19393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E76"/>
                </a:solidFill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Highlight important values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880" y="149382"/>
            <a:ext cx="77321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Executive Summary &amp; Profitability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886" y="743209"/>
            <a:ext cx="439152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6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Interactive Excel dashboard created from the analyzed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07821de-2f2a-4861-b554-e9e58fb11e28.png">
            <a:extLst>
              <a:ext uri="{FF2B5EF4-FFF2-40B4-BE49-F238E27FC236}">
                <a16:creationId xmlns:a16="http://schemas.microsoft.com/office/drawing/2014/main" id="{7293A99D-2658-44D2-9BFD-B0C9F7CFE4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7"/>
          <a:stretch/>
        </p:blipFill>
        <p:spPr>
          <a:xfrm>
            <a:off x="700886" y="1044961"/>
            <a:ext cx="993433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1902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Dashboard Highlights &amp;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628543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6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The dashboard gives a quick view of overall performance and major business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75564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380744"/>
            <a:ext cx="1266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6"/>
                </a:solidFill>
                <a:latin typeface="Aptos"/>
              </a:defRPr>
            </a:pPr>
            <a:r>
              <a:rPr sz="1400" dirty="0">
                <a:latin typeface="Cambria" panose="02040503050406030204" pitchFamily="18" charset="0"/>
                <a:ea typeface="Cambria" panose="02040503050406030204" pitchFamily="18" charset="0"/>
              </a:rP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73352"/>
            <a:ext cx="140455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$645,223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1448" y="1234440"/>
            <a:ext cx="175564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40" y="1380744"/>
            <a:ext cx="150977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6"/>
                </a:solidFill>
                <a:latin typeface="Aptos"/>
              </a:defRPr>
            </a:pPr>
            <a:r>
              <a:rPr sz="1400" dirty="0">
                <a:latin typeface="Cambria" panose="02040503050406030204" pitchFamily="18" charset="0"/>
                <a:ea typeface="Cambria" panose="02040503050406030204" pitchFamily="18" charset="0"/>
              </a:rPr>
              <a:t>Total Gross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673352"/>
            <a:ext cx="140455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$296,384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234440"/>
            <a:ext cx="175564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380744"/>
            <a:ext cx="167218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6"/>
                </a:solidFill>
                <a:latin typeface="Aptos"/>
              </a:defRPr>
            </a:pPr>
            <a:r>
              <a:rPr sz="1400" dirty="0">
                <a:latin typeface="Cambria" panose="02040503050406030204" pitchFamily="18" charset="0"/>
                <a:ea typeface="Cambria" panose="02040503050406030204" pitchFamily="18" charset="0"/>
              </a:rPr>
              <a:t>Gross Profit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673352"/>
            <a:ext cx="119295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45.94%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234440"/>
            <a:ext cx="175564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1380744"/>
            <a:ext cx="13851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6"/>
                </a:solidFill>
                <a:latin typeface="Aptos"/>
              </a:defRPr>
            </a:pPr>
            <a:r>
              <a:rPr sz="1400" dirty="0">
                <a:latin typeface="Cambria" panose="02040503050406030204" pitchFamily="18" charset="0"/>
                <a:ea typeface="Cambria" panose="02040503050406030204" pitchFamily="18" charset="0"/>
              </a:rPr>
              <a:t>Total Units Sold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7708" y="1673352"/>
            <a:ext cx="91723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6,698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7032" y="1234440"/>
            <a:ext cx="175564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21624" y="1380744"/>
            <a:ext cx="11340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6"/>
                </a:solidFill>
                <a:latin typeface="Aptos"/>
              </a:defRPr>
            </a:pPr>
            <a:r>
              <a:rPr sz="1400" dirty="0">
                <a:latin typeface="Cambria" panose="02040503050406030204" pitchFamily="18" charset="0"/>
                <a:ea typeface="Cambria" panose="02040503050406030204" pitchFamily="18" charset="0"/>
              </a:rPr>
              <a:t>Total 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2880" y="1673352"/>
            <a:ext cx="91723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2,707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1234440"/>
            <a:ext cx="175564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62217" y="1373160"/>
            <a:ext cx="6004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6"/>
                </a:solidFill>
                <a:latin typeface="Aptos"/>
              </a:defRPr>
            </a:pPr>
            <a:r>
              <a:rPr sz="1400" dirty="0">
                <a:latin typeface="Cambria" panose="02040503050406030204" pitchFamily="18" charset="0"/>
                <a:ea typeface="Cambria" panose="02040503050406030204" pitchFamily="18" charset="0"/>
              </a:rPr>
              <a:t>COGS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0152" y="1673352"/>
            <a:ext cx="140455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$348,839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606040"/>
            <a:ext cx="10698480" cy="3259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Monthly revenue peaks around June and November at approximately $66K.</a:t>
            </a:r>
          </a:p>
          <a:p>
            <a:pPr>
              <a:spcAft>
                <a:spcPts val="1100"/>
              </a:spcAft>
              <a:defRPr sz="14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Gross profit follows a similar monthly pattern, reaching about $31K in June and July.</a:t>
            </a:r>
          </a:p>
          <a:p>
            <a:pPr>
              <a:spcAft>
                <a:spcPts val="1100"/>
              </a:spcAft>
              <a:defRPr sz="14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Online Store contributes the largest revenue share at 40%.</a:t>
            </a:r>
          </a:p>
          <a:p>
            <a:pPr>
              <a:spcAft>
                <a:spcPts val="1100"/>
              </a:spcAft>
              <a:defRPr sz="14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Western Europe has the largest regional share at 31%, followed closely by Central Europe at 30%.</a:t>
            </a:r>
          </a:p>
          <a:p>
            <a:pPr>
              <a:spcAft>
                <a:spcPts val="1100"/>
              </a:spcAft>
              <a:defRPr sz="14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The United Kingdom is the highest-revenue country among the five countries shown, at about $74K.</a:t>
            </a:r>
          </a:p>
          <a:p>
            <a:pPr>
              <a:spcAft>
                <a:spcPts val="1100"/>
              </a:spcAft>
              <a:defRPr sz="14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Overall gross profit margin is 45.94%, indicating a strong share of revenue retained after COGS.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39910"/>
            <a:ext cx="12191695" cy="228600"/>
          </a:xfrm>
          <a:prstGeom prst="rect">
            <a:avLst/>
          </a:prstGeom>
          <a:solidFill>
            <a:srgbClr val="16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0016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4C6C"/>
                </a:solidFill>
                <a:latin typeface="Aptos Display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242855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6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What this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949440" cy="449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Converted raw business data into a clear executive dashboard.</a:t>
            </a:r>
          </a:p>
          <a:p>
            <a:pPr>
              <a:spcAft>
                <a:spcPts val="11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Used Excel to summarize, visualize and compare performance.</a:t>
            </a:r>
          </a:p>
          <a:p>
            <a:pPr>
              <a:spcAft>
                <a:spcPts val="11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Created an interactive report using Pivot Tables, Pivot Charts and slicers.</a:t>
            </a:r>
          </a:p>
          <a:p>
            <a:pPr>
              <a:spcAft>
                <a:spcPts val="11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Identified useful patterns in revenue, profit, channels, countries and regions.</a:t>
            </a:r>
          </a:p>
          <a:p>
            <a:pPr>
              <a:spcAft>
                <a:spcPts val="11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The dashboard can support faster and more informed business decisions.</a:t>
            </a:r>
          </a:p>
          <a:p>
            <a:pPr>
              <a:spcAft>
                <a:spcPts val="11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• The project strengthened my practical Excel and data-analysis skills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4172" y="2755909"/>
            <a:ext cx="193405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440</Words>
  <Application>Microsoft Office PowerPoint</Application>
  <PresentationFormat>Widescreen</PresentationFormat>
  <Paragraphs>80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gayatri kamble</cp:lastModifiedBy>
  <cp:revision>6</cp:revision>
  <dcterms:created xsi:type="dcterms:W3CDTF">2013-01-27T09:14:16Z</dcterms:created>
  <dcterms:modified xsi:type="dcterms:W3CDTF">2026-10-13T14:01:23Z</dcterms:modified>
  <cp:category/>
</cp:coreProperties>
</file>